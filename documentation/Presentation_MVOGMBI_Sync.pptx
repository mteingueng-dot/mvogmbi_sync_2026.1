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30944e8-43b9-a551-b306-d2c495d882e1}">
          <p14:sldIdLst>
            <p14:sldId id="256"/>
            <p14:sldId id="257"/>
            <p14:sldId id="258"/>
          </p14:sldIdLst>
        </p14:section>
        <p14:section name="Fonctionnement" id="{4b646131-73ae-3eca-1951-baca61e3518d}">
          <p14:sldIdLst>
            <p14:sldId id="259"/>
            <p14:sldId id="260"/>
            <p14:sldId id="261"/>
          </p14:sldIdLst>
        </p14:section>
        <p14:section name="Fonctions" id="{c6ca54db-5360-2ed4-3c18-fbb4bd0ca83e}">
          <p14:sldIdLst>
            <p14:sldId id="262"/>
            <p14:sldId id="263"/>
            <p14:sldId id="264"/>
            <p14:sldId id="265"/>
          </p14:sldIdLst>
        </p14:section>
        <p14:section name="Confiance" id="{3dabfd8f-72b3-1fb5-5875-f7161d709613}">
          <p14:sldIdLst>
            <p14:sldId id="266"/>
            <p14:sldId id="267"/>
          </p14:sldIdLst>
        </p14:section>
        <p14:section name="Suite" id="{e3ec2fc8-0f9c-131c-1ddd-32298b7e843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4532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4532A"/>
                </a:solidFill>
                <a:latin typeface="+mn-lt"/>
              </a:rPr>
              <a:t>Temps d'ouverture (secondes)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Secondes</c:v>
                </c:pt>
              </c:strCache>
            </c:strRef>
          </c:tx>
          <c:spPr>
            <a:solidFill>
              <a:srgbClr val="1F7A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1re lecture, Sage fermé</c:v>
                  </c:pt>
                  <c:pt idx="1">
                    <c:v>Liste des articles (préchargée)</c:v>
                  </c:pt>
                  <c:pt idx="2">
                    <c:v>Livre d'inventaire (préchargé)</c:v>
                  </c:pt>
                  <c:pt idx="3">
                    <c:v>Requête Sage courante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10.4</c:v>
                </c:pt>
                <c:pt idx="1">
                  <c:v>0.09</c:v>
                </c:pt>
                <c:pt idx="2">
                  <c:v>0.38</c:v>
                </c:pt>
                <c:pt idx="3">
                  <c:v>0.05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D2B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B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E3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MVOGMBI_Sync relie la caisse Clover et la comptabilité Sage 50. Version 1.0 : tout ce qui suit est en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: tout se ressaisissait à la main. Après : l'application fait le lien chaque nuit et vérifie chaque écriture.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Sept jours de réalisation, 97 versions livrées avec leur installateur, 212 tests automatiques.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Clover reste la caisse, Sage reste la comptabilité. L'application lit, contrôle, écrit, puis vérifie dans la base de 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traitement de nuit enchaîne ces étapes ; un jour bloqué est signalé, les autres continuent.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menu reprend les rubriques de gestion de Sage, avec les fonctions propres au marché.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Règles fixées par le propriétaire : facture au net Clover, une facture pour la fin de semaine, encaissement daté du dépôt.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PDF sont lus par l'OCR intégré à Windows, aucune intelligence artificielle ni service externe.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heures viennent de l'application, jamais saisies dans Sage ; Sage calcule les retenues.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Mesures du 30 octobre 2026 (temps techniques, aucune donnée de vente). Avant : chaque ouverture de liste avec Sage fermé attendait l'ouverture de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droits se règlent fonction par fonction : on peut donner « Liste des articles » sans le reste de la rubrique.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212 tests automatiques, puis essais réels sur une copie du fichier d'entreprise et sur des articles Clover d'essai supprimés ensuite.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Prochaines étapes : brancher un deuxième point de vente, suivre les premières remises, utiliser promotions et bulletins par courriel au quotidien.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145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97C9A8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14532A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1"/>
                </a:solidFill>
              </a:rPr>
              <a:t>MVOGMBI_Sync 1.0 — Marché MVOG-MBI Sherbrooke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MVOGMBI_Sync 1.0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7C9A8"/>
                </a:solidFill>
              </a:rPr>
              <a:t>Les ventes Clover dans Sage 50, chaque nuit, sans ressaisie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97C9A8"/>
                </a:solidFill>
              </a:rPr>
              <a:t>Marché MVOG-MBI Sherbrooke · 30 octobre 2026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54335" y="548640"/>
            <a:ext cx="1188720" cy="11887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54335" y="548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14532A"/>
                </a:solidFill>
              </a:rPr>
              <a:t>✓</a:t>
            </a:r>
            <a:endParaRPr lang="en-US" sz="2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A"/>
                </a:solidFill>
              </a:rPr>
              <a:t>Deux systèmes qui ne se parlaient pas</a:t>
            </a:r>
            <a:endParaRPr lang="en-US" sz="3400" dirty="0"/>
          </a:p>
        </p:txBody>
      </p:sp>
      <p:sp>
        <p:nvSpPr>
          <p:cNvPr id="4" name="avant"/>
          <p:cNvSpPr/>
          <p:nvPr/>
        </p:nvSpPr>
        <p:spPr>
          <a:xfrm>
            <a:off x="548640" y="137160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</a:rPr>
              <a:t>Avant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19456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B22"/>
                </a:solidFill>
              </a:rPr>
              <a:t>Ventes recopiées de Clover vers Sage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B22"/>
                </a:solidFill>
              </a:rPr>
              <a:t>Dépôts bancaires appliqués à la main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B22"/>
                </a:solidFill>
              </a:rPr>
              <a:t>Factures fournisseurs saisies ligne par ligne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B22"/>
                </a:solidFill>
              </a:rPr>
              <a:t>Stocks Clover et Sage qui divergent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B22"/>
                </a:solidFill>
              </a:rPr>
              <a:t>Heures et paies sur papier</a:t>
            </a:r>
            <a:endParaRPr lang="en-US" sz="1600" dirty="0"/>
          </a:p>
        </p:txBody>
      </p:sp>
      <p:sp>
        <p:nvSpPr>
          <p:cNvPr id="7" name="apres"/>
          <p:cNvSpPr/>
          <p:nvPr/>
        </p:nvSpPr>
        <p:spPr>
          <a:xfrm>
            <a:off x="6339535" y="137160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59575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7A3A"/>
                </a:solidFill>
              </a:rPr>
              <a:t>Avec MVOGMBI_Sync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659575" y="219456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B22"/>
                </a:solidFill>
              </a:rPr>
              <a:t>Une facture de ventes par jour, importée la nuit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B22"/>
                </a:solidFill>
              </a:rPr>
              <a:t>Dépôts, Interac et espèces encaissés automatiquement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B22"/>
                </a:solidFill>
              </a:rPr>
              <a:t>PDF des fournisseurs lus, importés, stock mis à jour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B22"/>
                </a:solidFill>
              </a:rPr>
              <a:t>Articles, inventaire et transferts dans les deux systèmes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B22"/>
                </a:solidFill>
              </a:rPr>
              <a:t>Pointage par NIP, paie traitée dans Sage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75808" y="3383280"/>
            <a:ext cx="640080" cy="54864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A"/>
                </a:solidFill>
              </a:rPr>
              <a:t>La version 1.0 en chiffres</a:t>
            </a:r>
            <a:endParaRPr lang="en-US" sz="3400" dirty="0"/>
          </a:p>
        </p:txBody>
      </p:sp>
      <p:sp>
        <p:nvSpPr>
          <p:cNvPr id="4" name="stat0"/>
          <p:cNvSpPr/>
          <p:nvPr/>
        </p:nvSpPr>
        <p:spPr>
          <a:xfrm>
            <a:off x="548640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828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7A3A"/>
                </a:solidFill>
              </a:rPr>
              <a:t>97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versions livrées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en 7 jours</a:t>
            </a:r>
            <a:endParaRPr lang="en-US" sz="1600" dirty="0"/>
          </a:p>
        </p:txBody>
      </p:sp>
      <p:sp>
        <p:nvSpPr>
          <p:cNvPr id="7" name="stat1"/>
          <p:cNvSpPr/>
          <p:nvPr/>
        </p:nvSpPr>
        <p:spPr>
          <a:xfrm>
            <a:off x="3383280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828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7A3A"/>
                </a:solidFill>
              </a:rPr>
              <a:t>212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tests automatiques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réussis</a:t>
            </a:r>
            <a:endParaRPr lang="en-US" sz="1600" dirty="0"/>
          </a:p>
        </p:txBody>
      </p:sp>
      <p:sp>
        <p:nvSpPr>
          <p:cNvPr id="10" name="stat2"/>
          <p:cNvSpPr/>
          <p:nvPr/>
        </p:nvSpPr>
        <p:spPr>
          <a:xfrm>
            <a:off x="6217920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828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7A3A"/>
                </a:solidFill>
              </a:rPr>
              <a:t>8</a:t>
            </a:r>
            <a:endParaRPr lang="en-US" sz="6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rubriques au menu</a:t>
            </a:r>
            <a:endParaRPr lang="en-US" sz="1600" dirty="0"/>
          </a:p>
        </p:txBody>
      </p:sp>
      <p:sp>
        <p:nvSpPr>
          <p:cNvPr id="13" name="stat3"/>
          <p:cNvSpPr/>
          <p:nvPr/>
        </p:nvSpPr>
        <p:spPr>
          <a:xfrm>
            <a:off x="9052560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35440" y="1828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7A3A"/>
                </a:solidFill>
              </a:rPr>
              <a:t>&lt; 1 s</a:t>
            </a:r>
            <a:endParaRPr lang="en-US" sz="60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pour ouvrir une liste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même Sage fermé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61"/>
                </a:solidFill>
              </a:rPr>
              <a:t>Aucune donnée réelle dans ce document.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A"/>
                </a:solidFill>
              </a:rPr>
              <a:t>Comment ça marche</a:t>
            </a:r>
            <a:endParaRPr lang="en-US" sz="3400" dirty="0"/>
          </a:p>
        </p:txBody>
      </p:sp>
      <p:sp>
        <p:nvSpPr>
          <p:cNvPr id="4" name="bloc0"/>
          <p:cNvSpPr/>
          <p:nvPr/>
        </p:nvSpPr>
        <p:spPr>
          <a:xfrm>
            <a:off x="731520" y="173736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965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532A"/>
                </a:solidFill>
              </a:rPr>
              <a:t>Clover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974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ventes, articles,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stocks, employés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23360" y="2697480"/>
            <a:ext cx="502920" cy="45720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bloc1"/>
          <p:cNvSpPr/>
          <p:nvPr/>
        </p:nvSpPr>
        <p:spPr>
          <a:xfrm>
            <a:off x="4617720" y="173736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00600" y="1965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MVOGMBI_Sync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26974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contrôle, prépare,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écrit, vérifie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909560" y="2697480"/>
            <a:ext cx="502920" cy="45720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2" name="bloc2"/>
          <p:cNvSpPr/>
          <p:nvPr/>
        </p:nvSpPr>
        <p:spPr>
          <a:xfrm>
            <a:off x="8503920" y="173736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0" y="1965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532A"/>
                </a:solidFill>
              </a:rPr>
              <a:t>Sage 50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26974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factures, encaissements,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paies, stocks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57200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B22"/>
                </a:solidFill>
              </a:rPr>
              <a:t>Import des factures 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D2B22"/>
                </a:solidFill>
              </a:rPr>
              <a:t>Sage fermé, mono-utilisateur, jamais deux fois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B22"/>
                </a:solidFill>
              </a:rPr>
              <a:t>Saisies 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D2B22"/>
                </a:solidFill>
              </a:rPr>
              <a:t>multi-utilisateur, vous pouvez garder Sage ouvert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B22"/>
                </a:solidFill>
              </a:rPr>
              <a:t>Chaque écriture 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D2B22"/>
                </a:solidFill>
              </a:rPr>
              <a:t>relue dans la base de Sage avant d'être comptée comme faite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A"/>
                </a:solidFill>
              </a:rPr>
              <a:t>Chaque nuit, sans intervention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1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463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2"/>
                </a:solidFill>
              </a:rPr>
              <a:t>Lire les ventes de chaque jour sans facture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126480" y="1417320"/>
            <a:ext cx="685800" cy="6858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532A"/>
                </a:solidFill>
              </a:rPr>
              <a:t>2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1463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2"/>
                </a:solidFill>
              </a:rPr>
              <a:t>Importer les factures dans Sage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685800" cy="68580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3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606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2"/>
                </a:solidFill>
              </a:rPr>
              <a:t>Encaisser les dépôts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126480" y="2560320"/>
            <a:ext cx="685800" cy="6858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532A"/>
                </a:solidFill>
              </a:rPr>
              <a:t>4</a:t>
            </a:r>
            <a:endParaRPr lang="en-US" sz="165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2606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2"/>
                </a:solidFill>
              </a:rPr>
              <a:t>Payer les fournisseurs confirmés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3703320"/>
            <a:ext cx="685800" cy="68580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5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749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2"/>
                </a:solidFill>
              </a:rPr>
              <a:t>Lire les factures reçues par courriel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126480" y="3703320"/>
            <a:ext cx="685800" cy="6858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2648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532A"/>
                </a:solidFill>
              </a:rPr>
              <a:t>6</a:t>
            </a:r>
            <a:endParaRPr lang="en-US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6995160" y="3749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2"/>
                </a:solidFill>
              </a:rPr>
              <a:t>Appliquer les promotions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8640" y="4846320"/>
            <a:ext cx="685800" cy="68580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846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7</a:t>
            </a:r>
            <a:endParaRPr lang="en-US" sz="165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4892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2"/>
                </a:solidFill>
              </a:rPr>
              <a:t>Sauvegarder les données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126480" y="4846320"/>
            <a:ext cx="685800" cy="6858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26480" y="4846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532A"/>
                </a:solidFill>
              </a:rPr>
              <a:t>8</a:t>
            </a:r>
            <a:endParaRPr lang="en-US" sz="1650" dirty="0"/>
          </a:p>
        </p:txBody>
      </p:sp>
      <p:sp>
        <p:nvSpPr>
          <p:cNvPr id="27" name="Text 24"/>
          <p:cNvSpPr txBox="1"/>
          <p:nvPr/>
        </p:nvSpPr>
        <p:spPr>
          <a:xfrm>
            <a:off x="6995160" y="4892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2"/>
                </a:solidFill>
              </a:rPr>
              <a:t>Envoyer le résumé du matin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A"/>
                </a:solidFill>
              </a:rPr>
              <a:t>Huit rubriques, comme dans Sage</a:t>
            </a:r>
            <a:endParaRPr lang="en-US" sz="3400" dirty="0"/>
          </a:p>
        </p:txBody>
      </p:sp>
      <p:sp>
        <p:nvSpPr>
          <p:cNvPr id="4" name="rub0"/>
          <p:cNvSpPr/>
          <p:nvPr/>
        </p:nvSpPr>
        <p:spPr>
          <a:xfrm>
            <a:off x="548640" y="14173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32A"/>
                </a:solidFill>
              </a:rPr>
              <a:t>Administration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22"/>
                </a:solidFill>
              </a:rPr>
              <a:t>Clover, Sage, courriel, sauvegarde, utilisateurs</a:t>
            </a:r>
            <a:endParaRPr lang="en-US" sz="1400" dirty="0"/>
          </a:p>
        </p:txBody>
      </p:sp>
      <p:sp>
        <p:nvSpPr>
          <p:cNvPr id="7" name="rub1"/>
          <p:cNvSpPr/>
          <p:nvPr/>
        </p:nvSpPr>
        <p:spPr>
          <a:xfrm>
            <a:off x="3364992" y="14173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93592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32A"/>
                </a:solidFill>
              </a:rPr>
              <a:t>Articles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593592" y="2240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22"/>
                </a:solidFill>
              </a:rPr>
              <a:t>création, inventaire, transferts, pertes, promotions</a:t>
            </a:r>
            <a:endParaRPr lang="en-US" sz="1400" dirty="0"/>
          </a:p>
        </p:txBody>
      </p:sp>
      <p:sp>
        <p:nvSpPr>
          <p:cNvPr id="10" name="rub2"/>
          <p:cNvSpPr/>
          <p:nvPr/>
        </p:nvSpPr>
        <p:spPr>
          <a:xfrm>
            <a:off x="6181344" y="14173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9944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32A"/>
                </a:solidFill>
              </a:rPr>
              <a:t>Vente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09944" y="2240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22"/>
                </a:solidFill>
              </a:rPr>
              <a:t>factures des ventes, clients, commandes, relances</a:t>
            </a:r>
            <a:endParaRPr lang="en-US" sz="1400" dirty="0"/>
          </a:p>
        </p:txBody>
      </p:sp>
      <p:sp>
        <p:nvSpPr>
          <p:cNvPr id="13" name="rub3"/>
          <p:cNvSpPr/>
          <p:nvPr/>
        </p:nvSpPr>
        <p:spPr>
          <a:xfrm>
            <a:off x="8997696" y="14173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26296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32A"/>
                </a:solidFill>
              </a:rPr>
              <a:t>Fournisseur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226296" y="2240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22"/>
                </a:solidFill>
              </a:rPr>
              <a:t>factures PDF, bons de commande, retours</a:t>
            </a:r>
            <a:endParaRPr lang="en-US" sz="1400" dirty="0"/>
          </a:p>
        </p:txBody>
      </p:sp>
      <p:sp>
        <p:nvSpPr>
          <p:cNvPr id="16" name="rub4"/>
          <p:cNvSpPr/>
          <p:nvPr/>
        </p:nvSpPr>
        <p:spPr>
          <a:xfrm>
            <a:off x="548640" y="3749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32A"/>
                </a:solidFill>
              </a:rPr>
              <a:t>Comptabilité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5720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22"/>
                </a:solidFill>
              </a:rPr>
              <a:t>encaissements, banque, caisse, taxes, budget</a:t>
            </a:r>
            <a:endParaRPr lang="en-US" sz="1400" dirty="0"/>
          </a:p>
        </p:txBody>
      </p:sp>
      <p:sp>
        <p:nvSpPr>
          <p:cNvPr id="19" name="rub5"/>
          <p:cNvSpPr/>
          <p:nvPr/>
        </p:nvSpPr>
        <p:spPr>
          <a:xfrm>
            <a:off x="3364992" y="3749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93592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32A"/>
                </a:solidFill>
              </a:rPr>
              <a:t>Paie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3593592" y="45720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22"/>
                </a:solidFill>
              </a:rPr>
              <a:t>pointage, planning, chèques, bulletins, congés</a:t>
            </a:r>
            <a:endParaRPr lang="en-US" sz="1400" dirty="0"/>
          </a:p>
        </p:txBody>
      </p:sp>
      <p:sp>
        <p:nvSpPr>
          <p:cNvPr id="22" name="rub6"/>
          <p:cNvSpPr/>
          <p:nvPr/>
        </p:nvSpPr>
        <p:spPr>
          <a:xfrm>
            <a:off x="6181344" y="3749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9944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32A"/>
                </a:solidFill>
              </a:rPr>
              <a:t>État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6409944" y="45720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22"/>
                </a:solidFill>
              </a:rPr>
              <a:t>statistiques, bénéfices, prévisions, 20/80</a:t>
            </a:r>
            <a:endParaRPr lang="en-US" sz="1400" dirty="0"/>
          </a:p>
        </p:txBody>
      </p:sp>
      <p:sp>
        <p:nvSpPr>
          <p:cNvPr id="25" name="rub7"/>
          <p:cNvSpPr/>
          <p:nvPr/>
        </p:nvSpPr>
        <p:spPr>
          <a:xfrm>
            <a:off x="8997696" y="3749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26296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32A"/>
                </a:solidFill>
              </a:rPr>
              <a:t>Accueil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226296" y="45720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22"/>
                </a:solidFill>
              </a:rPr>
              <a:t>mise en route, résumé, alertes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A"/>
                </a:solidFill>
              </a:rPr>
              <a:t>Des ventes à l'encaissement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1</a:t>
            </a:r>
            <a:endParaRPr lang="en-US" sz="143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463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2"/>
                </a:solidFill>
              </a:rPr>
              <a:t>Une vente est datée de son premier paiement réussi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94360" cy="59436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2</a:t>
            </a:r>
            <a:endParaRPr lang="en-US" sz="143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331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2"/>
                </a:solidFill>
              </a:rPr>
              <a:t>Une facture par jour du lundi au jeudi, une seule du vendredi au dimanche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594360" cy="59436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3</a:t>
            </a:r>
            <a:endParaRPr lang="en-US" sz="143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32004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2"/>
                </a:solidFill>
              </a:rPr>
              <a:t>Montant de ligne = ventes nettes Clover ; prix = net / quantité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23360"/>
            <a:ext cx="594360" cy="59436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4</a:t>
            </a:r>
            <a:endParaRPr lang="en-US" sz="143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40690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2"/>
                </a:solidFill>
              </a:rPr>
              <a:t>Dépôt Clover appliqué sur la facture de son lot ; Interac et espèces répartis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892040"/>
            <a:ext cx="594360" cy="59436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892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5</a:t>
            </a:r>
            <a:endParaRPr lang="en-US" sz="143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937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2"/>
                </a:solidFill>
              </a:rPr>
              <a:t>Jamais deux fois la même facture ni le même encaissement</a:t>
            </a:r>
            <a:endParaRPr lang="en-US" sz="1800" dirty="0"/>
          </a:p>
        </p:txBody>
      </p:sp>
      <p:sp>
        <p:nvSpPr>
          <p:cNvPr id="19" name="regle"/>
          <p:cNvSpPr/>
          <p:nvPr/>
        </p:nvSpPr>
        <p:spPr>
          <a:xfrm>
            <a:off x="8321040" y="1417320"/>
            <a:ext cx="3322015" cy="4114800"/>
          </a:xfrm>
          <a:prstGeom prst="roundRect">
            <a:avLst>
              <a:gd name="adj" fmla="val 3303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4964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Jour bloqué ?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219456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B22"/>
                </a:solidFill>
              </a:rPr>
              <a:t>Article non relié ou compte manquant : le jour est signalé dans le courriel du matin, corrigé en deux clics, puis refait. Les autres jours continuent.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A"/>
                </a:solidFill>
              </a:rPr>
              <a:t>Fournisseurs : de la commande au paiement</a:t>
            </a:r>
            <a:endParaRPr lang="en-US" sz="3400" dirty="0"/>
          </a:p>
        </p:txBody>
      </p:sp>
      <p:sp>
        <p:nvSpPr>
          <p:cNvPr id="4" name="etape0"/>
          <p:cNvSpPr/>
          <p:nvPr/>
        </p:nvSpPr>
        <p:spPr>
          <a:xfrm>
            <a:off x="548640" y="18288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9659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A"/>
                </a:solidFill>
              </a:rPr>
              <a:t>Bon de commande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532A"/>
                </a:solidFill>
              </a:rPr>
              <a:t>proposé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32888" y="2514600"/>
            <a:ext cx="274320" cy="36576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etape1"/>
          <p:cNvSpPr/>
          <p:nvPr/>
        </p:nvSpPr>
        <p:spPr>
          <a:xfrm>
            <a:off x="2816352" y="18288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926080" y="19659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A"/>
                </a:solidFill>
              </a:rPr>
              <a:t>Facture PDF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532A"/>
                </a:solidFill>
              </a:rPr>
              <a:t>lue et contrôlée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800600" y="2514600"/>
            <a:ext cx="274320" cy="36576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etape2"/>
          <p:cNvSpPr/>
          <p:nvPr/>
        </p:nvSpPr>
        <p:spPr>
          <a:xfrm>
            <a:off x="5084064" y="18288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93792" y="19659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Import dans Sage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stock Clover à jour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068312" y="2514600"/>
            <a:ext cx="274320" cy="36576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etape3"/>
          <p:cNvSpPr/>
          <p:nvPr/>
        </p:nvSpPr>
        <p:spPr>
          <a:xfrm>
            <a:off x="7351776" y="18288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61504" y="19659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A"/>
                </a:solidFill>
              </a:rPr>
              <a:t>Virement Interac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532A"/>
                </a:solidFill>
              </a:rPr>
              <a:t>rapproché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336024" y="2514600"/>
            <a:ext cx="274320" cy="36576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6" name="etape4"/>
          <p:cNvSpPr/>
          <p:nvPr/>
        </p:nvSpPr>
        <p:spPr>
          <a:xfrm>
            <a:off x="9619488" y="18288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729216" y="19659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A"/>
                </a:solidFill>
              </a:rPr>
              <a:t>Paiement saisi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532A"/>
                </a:solidFill>
              </a:rPr>
              <a:t>dans Sage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11480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B22"/>
                </a:solidFill>
              </a:rPr>
              <a:t>Qté Sage = Qté × Facteur ; Prix Sage = Montant / Qté Sage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B22"/>
                </a:solidFill>
              </a:rPr>
              <a:t>Doublons reconnus, même avec un préfixe sur le n° de facture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B22"/>
                </a:solidFill>
              </a:rPr>
              <a:t>Paiement partiel accepté, jamais plus que le solde dû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A"/>
                </a:solidFill>
              </a:rPr>
              <a:t>La paie, du pointage au bulletin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417320" y="1554480"/>
            <a:ext cx="868680" cy="86868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41732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90" b="1" dirty="0">
                <a:solidFill>
                  <a:srgbClr val="FFFFFF"/>
                </a:solidFill>
              </a:rPr>
              <a:t>1</a:t>
            </a:r>
            <a:endParaRPr lang="en-US" sz="209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32A"/>
                </a:solidFill>
              </a:rPr>
              <a:t>Pointer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54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B22"/>
                </a:solidFill>
              </a:rPr>
              <a:t>par NIP au magasin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33672" y="1554480"/>
            <a:ext cx="868680" cy="8686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33672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90" b="1" dirty="0">
                <a:solidFill>
                  <a:srgbClr val="14532A"/>
                </a:solidFill>
              </a:rPr>
              <a:t>2</a:t>
            </a:r>
            <a:endParaRPr lang="en-US" sz="2090" dirty="0"/>
          </a:p>
        </p:txBody>
      </p:sp>
      <p:sp>
        <p:nvSpPr>
          <p:cNvPr id="10" name="Text 7"/>
          <p:cNvSpPr txBox="1"/>
          <p:nvPr/>
        </p:nvSpPr>
        <p:spPr>
          <a:xfrm>
            <a:off x="3364992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32A"/>
                </a:solidFill>
              </a:rPr>
              <a:t>Approuver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364992" y="3154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B22"/>
                </a:solidFill>
              </a:rPr>
              <a:t>feuilles de temps, fériés, congés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050024" y="1554480"/>
            <a:ext cx="868680" cy="86868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50024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90" b="1" dirty="0">
                <a:solidFill>
                  <a:srgbClr val="FFFFFF"/>
                </a:solidFill>
              </a:rPr>
              <a:t>3</a:t>
            </a:r>
            <a:endParaRPr lang="en-US" sz="2090" dirty="0"/>
          </a:p>
        </p:txBody>
      </p:sp>
      <p:sp>
        <p:nvSpPr>
          <p:cNvPr id="14" name="Text 11"/>
          <p:cNvSpPr txBox="1"/>
          <p:nvPr/>
        </p:nvSpPr>
        <p:spPr>
          <a:xfrm>
            <a:off x="6181344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32A"/>
                </a:solidFill>
              </a:rPr>
              <a:t>Traiter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181344" y="3154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B22"/>
                </a:solidFill>
              </a:rPr>
              <a:t>chèques de paie créés dans Sage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866376" y="1554480"/>
            <a:ext cx="868680" cy="8686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866376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90" b="1" dirty="0">
                <a:solidFill>
                  <a:srgbClr val="14532A"/>
                </a:solidFill>
              </a:rPr>
              <a:t>4</a:t>
            </a:r>
            <a:endParaRPr lang="en-US" sz="2090" dirty="0"/>
          </a:p>
        </p:txBody>
      </p:sp>
      <p:sp>
        <p:nvSpPr>
          <p:cNvPr id="18" name="Text 15"/>
          <p:cNvSpPr txBox="1"/>
          <p:nvPr/>
        </p:nvSpPr>
        <p:spPr>
          <a:xfrm>
            <a:off x="8997696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32A"/>
                </a:solidFill>
              </a:rPr>
              <a:t>Remettre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997696" y="3154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B22"/>
                </a:solidFill>
              </a:rPr>
              <a:t>bulletin à chaque employé, suivi des remises</a:t>
            </a:r>
            <a:endParaRPr lang="en-US" sz="1500" dirty="0"/>
          </a:p>
        </p:txBody>
      </p:sp>
      <p:sp>
        <p:nvSpPr>
          <p:cNvPr id="20" name="normes"/>
          <p:cNvSpPr/>
          <p:nvPr/>
        </p:nvSpPr>
        <p:spPr>
          <a:xfrm>
            <a:off x="548640" y="448056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6634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Normes du travail du Québec : 8 jours fériés, indemnité = 1/20 des 4 semaines précédentes, vacances 4 % / 6 %. Le NAS n'est jamais gardé par l'application.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A"/>
                </a:solidFill>
              </a:rPr>
              <a:t>Des listes à moins d'une seconde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apide"/>
          <p:cNvSpPr/>
          <p:nvPr/>
        </p:nvSpPr>
        <p:spPr>
          <a:xfrm>
            <a:off x="7863840" y="1463040"/>
            <a:ext cx="3779215" cy="4206240"/>
          </a:xfrm>
          <a:prstGeom prst="roundRect">
            <a:avLst>
              <a:gd name="adj" fmla="val 2903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092440" y="17373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4532A"/>
                </a:solidFill>
              </a:rPr>
              <a:t>Préchargement au démarrage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4532A"/>
                </a:solidFill>
              </a:rPr>
              <a:t>Base gardée 10 minutes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4532A"/>
                </a:solidFill>
              </a:rPr>
              <a:t>Relâchée dès que vous lancez Sage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4532A"/>
                </a:solidFill>
              </a:rPr>
              <a:t>ou qu'un import en a besoin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A"/>
                </a:solidFill>
              </a:rPr>
              <a:t>Chacun ne voit que ce qui lui est permis</a:t>
            </a:r>
            <a:endParaRPr lang="en-US" sz="3400" dirty="0"/>
          </a:p>
        </p:txBody>
      </p:sp>
      <p:sp>
        <p:nvSpPr>
          <p:cNvPr id="4" name="droit0"/>
          <p:cNvSpPr/>
          <p:nvPr/>
        </p:nvSpPr>
        <p:spPr>
          <a:xfrm>
            <a:off x="548640" y="146304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847088"/>
            <a:ext cx="731520" cy="73152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470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</a:rPr>
              <a:t>✓</a:t>
            </a:r>
            <a:endParaRPr lang="en-US" sz="176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32A"/>
                </a:solidFill>
              </a:rPr>
              <a:t>Par fonction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94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B22"/>
                </a:solidFill>
              </a:rPr>
              <a:t>cocher « Liste des articles » seule, sans le reste de la rubrique</a:t>
            </a:r>
            <a:endParaRPr lang="en-US" sz="1500" dirty="0"/>
          </a:p>
        </p:txBody>
      </p:sp>
      <p:sp>
        <p:nvSpPr>
          <p:cNvPr id="9" name="droit1"/>
          <p:cNvSpPr/>
          <p:nvPr/>
        </p:nvSpPr>
        <p:spPr>
          <a:xfrm>
            <a:off x="6126480" y="146304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847088"/>
            <a:ext cx="731520" cy="73152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8470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</a:rPr>
              <a:t>✓</a:t>
            </a:r>
            <a:endParaRPr lang="en-US" sz="176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32A"/>
                </a:solidFill>
              </a:rPr>
              <a:t>Dans les fenêtres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2194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B22"/>
                </a:solidFill>
              </a:rPr>
              <a:t>traiter la paie, restaurer une sauvegarde… refusables</a:t>
            </a:r>
            <a:endParaRPr lang="en-US" sz="1500" dirty="0"/>
          </a:p>
        </p:txBody>
      </p:sp>
      <p:sp>
        <p:nvSpPr>
          <p:cNvPr id="14" name="droit2"/>
          <p:cNvSpPr/>
          <p:nvPr/>
        </p:nvSpPr>
        <p:spPr>
          <a:xfrm>
            <a:off x="548640" y="320040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3584448"/>
            <a:ext cx="731520" cy="73152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584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</a:rPr>
              <a:t>✓</a:t>
            </a:r>
            <a:endParaRPr lang="en-US" sz="1760" dirty="0"/>
          </a:p>
        </p:txBody>
      </p:sp>
      <p:sp>
        <p:nvSpPr>
          <p:cNvPr id="17" name="Text 14"/>
          <p:cNvSpPr txBox="1"/>
          <p:nvPr/>
        </p:nvSpPr>
        <p:spPr>
          <a:xfrm>
            <a:off x="1783080" y="3429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32A"/>
                </a:solidFill>
              </a:rPr>
              <a:t>Supprimer, exporter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783080" y="3931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B22"/>
                </a:solidFill>
              </a:rPr>
              <a:t>deux droits à part, sur tous les boutons concernés</a:t>
            </a:r>
            <a:endParaRPr lang="en-US" sz="1500" dirty="0"/>
          </a:p>
        </p:txBody>
      </p:sp>
      <p:sp>
        <p:nvSpPr>
          <p:cNvPr id="19" name="droit3"/>
          <p:cNvSpPr/>
          <p:nvPr/>
        </p:nvSpPr>
        <p:spPr>
          <a:xfrm>
            <a:off x="6126480" y="320040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3584448"/>
            <a:ext cx="731520" cy="731520"/>
          </a:xfrm>
          <a:prstGeom prst="ellipse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0" y="3584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</a:rPr>
              <a:t>✓</a:t>
            </a:r>
            <a:endParaRPr lang="en-US" sz="1760" dirty="0"/>
          </a:p>
        </p:txBody>
      </p:sp>
      <p:sp>
        <p:nvSpPr>
          <p:cNvPr id="22" name="Text 19"/>
          <p:cNvSpPr txBox="1"/>
          <p:nvPr/>
        </p:nvSpPr>
        <p:spPr>
          <a:xfrm>
            <a:off x="7360920" y="3429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32A"/>
                </a:solidFill>
              </a:rPr>
              <a:t>Points de vente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360920" y="3931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B22"/>
                </a:solidFill>
              </a:rPr>
              <a:t>un profil limité à un ou plusieurs magasins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61"/>
                </a:solidFill>
              </a:rPr>
              <a:t>Mots de passe jamais gardés en clair · secrets dans le coffre-fort de Windows · écran verrouillé après 5 minutes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A"/>
                </a:solidFill>
              </a:rPr>
              <a:t>Testé avant chaque livraison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1F7A3A"/>
                </a:solidFill>
              </a:rPr>
              <a:t>212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tests automatiques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1463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C62828"/>
                </a:solidFill>
              </a:rPr>
              <a:t>0</a:t>
            </a:r>
            <a:endParaRPr lang="en-US" sz="64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2651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écriture d'essai dans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le vrai fichier Sage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1463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1F7A3A"/>
                </a:solidFill>
              </a:rPr>
              <a:t>12</a:t>
            </a:r>
            <a:endParaRPr lang="en-US" sz="64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651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scénarios d'écriture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22"/>
                </a:solidFill>
              </a:rPr>
              <a:t>validés dans Sage</a:t>
            </a:r>
            <a:endParaRPr lang="en-US" sz="1600" dirty="0"/>
          </a:p>
        </p:txBody>
      </p:sp>
      <p:sp>
        <p:nvSpPr>
          <p:cNvPr id="10" name="recette"/>
          <p:cNvSpPr/>
          <p:nvPr/>
        </p:nvSpPr>
        <p:spPr>
          <a:xfrm>
            <a:off x="548640" y="384048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EAF4ED"/>
          </a:solidFill>
          <a:ln w="12700">
            <a:solidFill>
              <a:srgbClr val="D5E3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406908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D2B22"/>
                </a:solidFill>
              </a:rPr>
              <a:t>Import et doublon · encaissements · paiements · journal · documents de stock · transferts · inventaire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D2B22"/>
                </a:solidFill>
              </a:rPr>
              <a:t>Création d'articles, de services, de clients, de fournisseurs, d'employés · chèques de paie · profils et droits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Et maintenant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7C9A8"/>
                </a:solidFill>
              </a:rPr>
              <a:t>Deuxième point de vente réel · remises de retenues · promotions et bulletins en conditions réelles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97C9A8"/>
                </a:solidFill>
              </a:rPr>
              <a:t>Documentation complète : manuel, documentation fonctionnelle, architecture, workflows, processus, plan de test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ché MVOG-MBI">
  <a:themeElements>
    <a:clrScheme name="Marché MVOG-MBI">
      <a:dk1>
        <a:srgbClr val="1D2B22"/>
      </a:dk1>
      <a:lt1>
        <a:srgbClr val="FFFFFF"/>
      </a:lt1>
      <a:dk2>
        <a:srgbClr val="14532A"/>
      </a:dk2>
      <a:lt2>
        <a:srgbClr val="EAF4ED"/>
      </a:lt2>
      <a:accent1>
        <a:srgbClr val="1F7A3A"/>
      </a:accent1>
      <a:accent2>
        <a:srgbClr val="F2B705"/>
      </a:accent2>
      <a:accent3>
        <a:srgbClr val="C62828"/>
      </a:accent3>
      <a:accent4>
        <a:srgbClr val="5B6B61"/>
      </a:accent4>
      <a:accent5>
        <a:srgbClr val="97C9A8"/>
      </a:accent5>
      <a:accent6>
        <a:srgbClr val="2E7D9A"/>
      </a:accent6>
      <a:hlink>
        <a:srgbClr val="1F7A3A"/>
      </a:hlink>
      <a:folHlink>
        <a:srgbClr val="14532A"/>
      </a:folHlink>
    </a:clrScheme>
    <a:fontScheme name="Marché MVOG-MBI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Concept Informatique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MVOGMBI_Sync 1.0</dc:title>
  <dc:subject>PptxGenJS Presentation</dc:subject>
  <dc:creator>Concept Informatique inc.</dc:creator>
  <cp:lastModifiedBy>Concept Informatique inc.</cp:lastModifiedBy>
  <cp:revision>1</cp:revision>
  <dcterms:created xsi:type="dcterms:W3CDTF">2026-10-30T11:43:42Z</dcterms:created>
  <dcterms:modified xsi:type="dcterms:W3CDTF">2026-10-30T11:43:42Z</dcterms:modified>
</cp:coreProperties>
</file>